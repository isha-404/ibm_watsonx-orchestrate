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62" r:id="rId8"/>
    <p:sldId id="287" r:id="rId9"/>
    <p:sldId id="288"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87" autoAdjust="0"/>
  </p:normalViewPr>
  <p:slideViewPr>
    <p:cSldViewPr snapToGrid="0">
      <p:cViewPr>
        <p:scale>
          <a:sx n="66" d="100"/>
          <a:sy n="66" d="100"/>
        </p:scale>
        <p:origin x="1301"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isha-404/IBM_watsonx-Orchestrate"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5401911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Isha </a:t>
                      </a:r>
                      <a:r>
                        <a:rPr lang="en-IN" dirty="0" err="1"/>
                        <a:t>Umathe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400" b="0" i="0" u="none" strike="noStrike" cap="none" dirty="0">
                          <a:solidFill>
                            <a:srgbClr val="000000"/>
                          </a:solidFill>
                          <a:effectLst/>
                          <a:latin typeface="Arial"/>
                          <a:ea typeface="Arial"/>
                          <a:cs typeface="Arial"/>
                          <a:sym typeface="Arial"/>
                        </a:rPr>
                        <a:t>isha.umathe.batch2024@sitnagpur.siu.edu.in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9322975758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608250"/>
            <a:ext cx="10280254" cy="461665"/>
          </a:xfrm>
          <a:prstGeom prst="rect">
            <a:avLst/>
          </a:prstGeom>
          <a:noFill/>
        </p:spPr>
        <p:txBody>
          <a:bodyPr wrap="square" rtlCol="0">
            <a:spAutoFit/>
          </a:bodyPr>
          <a:lstStyle/>
          <a:p>
            <a:r>
              <a:rPr lang="en-US" sz="2400" b="1" dirty="0"/>
              <a:t>Domain of  Project – </a:t>
            </a:r>
            <a:r>
              <a:rPr lang="en-IN" sz="2400" dirty="0"/>
              <a:t>Education &amp; Cloud Automation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dirty="0" err="1"/>
              <a:t>AdmissionBuddy</a:t>
            </a:r>
            <a:r>
              <a:rPr lang="en-IN" sz="2400" dirty="0"/>
              <a:t>: Autonomous College Admission Agentic AI Platform</a:t>
            </a:r>
            <a:endParaRPr lang="en-IN" sz="2400" b="1" dirty="0">
              <a:highlight>
                <a:srgbClr val="FFFF00"/>
              </a:highlight>
            </a:endParaRPr>
          </a:p>
        </p:txBody>
      </p:sp>
      <p:sp>
        <p:nvSpPr>
          <p:cNvPr id="2" name="Rectangle 1">
            <a:extLst>
              <a:ext uri="{FF2B5EF4-FFF2-40B4-BE49-F238E27FC236}">
                <a16:creationId xmlns:a16="http://schemas.microsoft.com/office/drawing/2014/main" id="{891D8F8E-307D-A539-DE39-6ED99D06BA26}"/>
              </a:ext>
            </a:extLst>
          </p:cNvPr>
          <p:cNvSpPr/>
          <p:nvPr/>
        </p:nvSpPr>
        <p:spPr>
          <a:xfrm>
            <a:off x="4104640" y="3672840"/>
            <a:ext cx="883920" cy="100584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College Admission Agent ( RAG Based ) </a:t>
            </a:r>
          </a:p>
          <a:p>
            <a:pPr fontAlgn="base"/>
            <a:endParaRPr lang="en-US" b="1" dirty="0"/>
          </a:p>
          <a:p>
            <a:pPr fontAlgn="base"/>
            <a:r>
              <a:rPr lang="en-US" b="1" dirty="0"/>
              <a:t>The Challenge</a:t>
            </a:r>
            <a:r>
              <a:rPr lang="en-US" dirty="0"/>
              <a:t> </a:t>
            </a:r>
          </a:p>
          <a:p>
            <a:pPr fontAlgn="base"/>
            <a:r>
              <a:rPr lang="en-US" dirty="0"/>
              <a:t>A </a:t>
            </a:r>
            <a:r>
              <a:rPr lang="en-US" b="1" dirty="0"/>
              <a:t>College Admission Agent</a:t>
            </a:r>
            <a:r>
              <a:rPr lang="en-US" dirty="0"/>
              <a:t>, powered by </a:t>
            </a:r>
            <a:r>
              <a:rPr lang="en-US" b="1" dirty="0"/>
              <a:t>RAG (Retrieval-Augmented Generation)</a:t>
            </a:r>
            <a:r>
              <a:rPr lang="en-US" dirty="0"/>
              <a:t>,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This AI-driven assistant boosts transparency, accessibility, and efficiency in college admissions.</a:t>
            </a:r>
          </a:p>
          <a:p>
            <a:pPr fontAlgn="base"/>
            <a:endParaRPr lang="en-US" dirty="0"/>
          </a:p>
          <a:p>
            <a:pPr fontAlgn="base"/>
            <a:r>
              <a:rPr lang="en-US" b="1" dirty="0"/>
              <a:t>The Objective</a:t>
            </a:r>
            <a:r>
              <a:rPr lang="en-US" dirty="0"/>
              <a:t> </a:t>
            </a:r>
          </a:p>
          <a:p>
            <a:r>
              <a:rPr lang="en-IN" b="1" dirty="0"/>
              <a:t>Deploy an Autonomous Digital Worker:</a:t>
            </a:r>
            <a:r>
              <a:rPr lang="en-IN" dirty="0"/>
              <a:t> Build and deploy a specialized, intelligent college admission assistant (</a:t>
            </a:r>
            <a:r>
              <a:rPr lang="en-IN" b="1" dirty="0" err="1"/>
              <a:t>AdmissionBuddy</a:t>
            </a:r>
            <a:r>
              <a:rPr lang="en-IN" dirty="0"/>
              <a:t>) leveraging </a:t>
            </a:r>
            <a:r>
              <a:rPr lang="en-IN" b="1" dirty="0"/>
              <a:t>IBM </a:t>
            </a:r>
            <a:r>
              <a:rPr lang="en-IN" b="1" dirty="0" err="1"/>
              <a:t>watsonx</a:t>
            </a:r>
            <a:r>
              <a:rPr lang="en-IN" b="1" dirty="0"/>
              <a:t> Orchestrate</a:t>
            </a:r>
            <a:r>
              <a:rPr lang="en-IN" dirty="0"/>
              <a:t> to transition from rigid, rule-based chatbots to dynamic, goal-driven conversational flows.</a:t>
            </a:r>
          </a:p>
          <a:p>
            <a:r>
              <a:rPr lang="en-IN" b="1" dirty="0"/>
              <a:t>Implement Zero-Hallucination RAG:</a:t>
            </a:r>
            <a:r>
              <a:rPr lang="en-IN" dirty="0"/>
              <a:t> Integrate a secure Retrieval-Augmented Generation (RAG) framework to index five multi-page institutional knowledge repositories, ensuring $100\%$ factually accurate responses regarding fee grids, dynamic cut-offs, and deadlines.</a:t>
            </a:r>
          </a:p>
          <a:p>
            <a:r>
              <a:rPr lang="en-IN" b="1" dirty="0"/>
              <a:t>Enable Dynamic Context &amp; Multi-Turn State Handling:</a:t>
            </a:r>
            <a:r>
              <a:rPr lang="en-IN" dirty="0"/>
              <a:t> Empower the agent to process conversational logical jumps and real-time user mid-course corrections (e.g., instantly recalculating and shifting an application track from </a:t>
            </a:r>
            <a:r>
              <a:rPr lang="en-IN" dirty="0" err="1"/>
              <a:t>B.Tech</a:t>
            </a:r>
            <a:r>
              <a:rPr lang="en-IN" dirty="0"/>
              <a:t> to BCA when eligibility variables change).</a:t>
            </a:r>
          </a:p>
          <a:p>
            <a:r>
              <a:rPr lang="en-IN" b="1" dirty="0"/>
              <a:t>Automate Native Lead &amp; Parameter Capture:</a:t>
            </a:r>
            <a:r>
              <a:rPr lang="en-IN" dirty="0"/>
              <a:t> Utilize </a:t>
            </a:r>
            <a:r>
              <a:rPr lang="en-IN" dirty="0" err="1"/>
              <a:t>Orchestrate's</a:t>
            </a:r>
            <a:r>
              <a:rPr lang="en-IN" dirty="0"/>
              <a:t> native slot-filling capabilities to frictionlessly harvest and validate structured candidate metadata (Name, Contact, Email, Target Program) sequentially within the natural dialogue lifespan.</a:t>
            </a:r>
          </a:p>
          <a:p>
            <a:r>
              <a:rPr lang="en-IN" b="1" dirty="0"/>
              <a:t>Optimize Student Onboarding UX:</a:t>
            </a:r>
            <a:r>
              <a:rPr lang="en-IN" dirty="0"/>
              <a:t> Reduce institutional drop-off rates by instantly rendering complex multi-tiered eligibility rules and structural document steps into clean, readable, scannable Markdown data tables for clear user understanding.</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677656"/>
          </a:xfrm>
          <a:prstGeom prst="rect">
            <a:avLst/>
          </a:prstGeom>
          <a:noFill/>
        </p:spPr>
        <p:txBody>
          <a:bodyPr wrap="square" rtlCol="0">
            <a:spAutoFit/>
          </a:bodyPr>
          <a:lstStyle/>
          <a:p>
            <a:pPr fontAlgn="base"/>
            <a:endParaRPr lang="en-US" b="1" dirty="0"/>
          </a:p>
          <a:p>
            <a:pPr fontAlgn="base"/>
            <a:r>
              <a:rPr lang="en-IN" b="1" dirty="0"/>
              <a:t>Tech Stack</a:t>
            </a:r>
            <a:endParaRPr lang="en-IN" dirty="0"/>
          </a:p>
          <a:p>
            <a:pPr fontAlgn="base"/>
            <a:endParaRPr lang="en-IN" dirty="0"/>
          </a:p>
          <a:p>
            <a:pPr marL="285750" indent="-285750" fontAlgn="base">
              <a:buFont typeface="Arial" panose="020B0604020202020204" pitchFamily="34" charset="0"/>
              <a:buChar char="•"/>
            </a:pPr>
            <a:r>
              <a:rPr lang="en-IN" dirty="0"/>
              <a:t>I used Orchestrate + IBM watsonx.ai + Granite Models</a:t>
            </a:r>
          </a:p>
          <a:p>
            <a:pPr marL="285750" indent="-285750" fontAlgn="base">
              <a:buFont typeface="Arial" panose="020B0604020202020204" pitchFamily="34" charset="0"/>
              <a:buChar char="•"/>
            </a:pPr>
            <a:endParaRPr lang="en-IN" dirty="0"/>
          </a:p>
          <a:p>
            <a:pPr fontAlgn="base"/>
            <a:r>
              <a:rPr lang="en-IN" b="1" dirty="0"/>
              <a:t>IBM </a:t>
            </a:r>
            <a:r>
              <a:rPr lang="en-IN" b="1" dirty="0" err="1"/>
              <a:t>watsonx</a:t>
            </a:r>
            <a:r>
              <a:rPr lang="en-IN" b="1" dirty="0"/>
              <a:t> Orchestrate: </a:t>
            </a:r>
            <a:r>
              <a:rPr lang="en-IN" dirty="0"/>
              <a:t>The core workspace used to design the autonomous digital worker and build the conversational workflow.</a:t>
            </a:r>
          </a:p>
          <a:p>
            <a:pPr fontAlgn="base"/>
            <a:endParaRPr lang="en-IN" dirty="0"/>
          </a:p>
          <a:p>
            <a:pPr fontAlgn="base"/>
            <a:r>
              <a:rPr lang="en-IN" b="1" dirty="0"/>
              <a:t>IBM Granite Model Family: </a:t>
            </a:r>
            <a:r>
              <a:rPr lang="en-IN" dirty="0"/>
              <a:t>Specifically driving the chat interface, natural language reasoning, and intent classification.</a:t>
            </a:r>
          </a:p>
          <a:p>
            <a:pPr fontAlgn="base"/>
            <a:endParaRPr lang="en-IN" dirty="0"/>
          </a:p>
          <a:p>
            <a:pPr fontAlgn="base"/>
            <a:r>
              <a:rPr lang="en-IN" b="1" dirty="0"/>
              <a:t>Native RAG: </a:t>
            </a:r>
            <a:r>
              <a:rPr lang="en-IN" dirty="0"/>
              <a:t>The automated engine that ingested, chunked, and indexed your 5 institutional PDF documents for zero-hallucination semantic matching.</a:t>
            </a:r>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r>
              <a:rPr lang="en-US" b="1" dirty="0"/>
              <a:t>Proposed Solution: </a:t>
            </a:r>
            <a:r>
              <a:rPr lang="en-IN" b="1" u="sng" dirty="0"/>
              <a:t>AI-Powered Admission Assistant</a:t>
            </a:r>
          </a:p>
          <a:p>
            <a:endParaRPr lang="en-US" b="1" u="sng" dirty="0"/>
          </a:p>
          <a:p>
            <a:r>
              <a:rPr lang="en-IN" dirty="0"/>
              <a:t>The proposed solution is </a:t>
            </a:r>
            <a:r>
              <a:rPr lang="en-IN" b="1" dirty="0" err="1"/>
              <a:t>AdmissionBuddy</a:t>
            </a:r>
            <a:r>
              <a:rPr lang="en-IN" dirty="0"/>
              <a:t>, an enterprise-grade autonomous digital worker built on the </a:t>
            </a:r>
            <a:r>
              <a:rPr lang="en-IN" b="1" dirty="0"/>
              <a:t>IBM </a:t>
            </a:r>
            <a:r>
              <a:rPr lang="en-IN" b="1" dirty="0" err="1"/>
              <a:t>watsonx</a:t>
            </a:r>
            <a:r>
              <a:rPr lang="en-IN" b="1" dirty="0"/>
              <a:t> Orchestrate</a:t>
            </a:r>
            <a:r>
              <a:rPr lang="en-IN" dirty="0"/>
              <a:t> platform powered by </a:t>
            </a:r>
            <a:r>
              <a:rPr lang="en-IN" b="1" dirty="0"/>
              <a:t>IBM Granite models</a:t>
            </a:r>
            <a:r>
              <a:rPr lang="en-IN" dirty="0"/>
              <a:t>. Moving away from traditional, rigid rule-based chatbots, this system leverages a fully dynamic multi-turn reasoning loop to autonomously guide prospective students through the entire institutional </a:t>
            </a:r>
            <a:r>
              <a:rPr lang="en-IN" dirty="0" err="1"/>
              <a:t>enrollment</a:t>
            </a:r>
            <a:r>
              <a:rPr lang="en-IN" dirty="0"/>
              <a:t>, eligibility verification, and registration lifecycle</a:t>
            </a:r>
          </a:p>
          <a:p>
            <a:r>
              <a:rPr lang="en-US" dirty="0"/>
              <a:t>The system consists of four key agents:</a:t>
            </a:r>
          </a:p>
          <a:p>
            <a:r>
              <a:rPr lang="en-IN" b="1" dirty="0"/>
              <a:t>Context-Aware Semantic Grounding (RAG):</a:t>
            </a:r>
            <a:r>
              <a:rPr lang="en-IN" dirty="0"/>
              <a:t> A secure RAG pipeline built within </a:t>
            </a:r>
            <a:r>
              <a:rPr lang="en-IN" dirty="0" err="1"/>
              <a:t>watsonx</a:t>
            </a:r>
            <a:r>
              <a:rPr lang="en-IN" dirty="0"/>
              <a:t> Orchestrate that indexes key institutional documents (Course </a:t>
            </a:r>
            <a:r>
              <a:rPr lang="en-IN" dirty="0" err="1"/>
              <a:t>Catalog</a:t>
            </a:r>
            <a:r>
              <a:rPr lang="en-IN" dirty="0"/>
              <a:t>, Eligibility Criteria, Fee Structure, Scholarships, and Important Dates). It uses real-time semantic retrieval to provide accurate, verified, and hallucination-free responses to student queries.</a:t>
            </a:r>
          </a:p>
          <a:p>
            <a:r>
              <a:rPr lang="en-IN" b="1" dirty="0"/>
              <a:t>Autonomous Intent Routing:</a:t>
            </a:r>
            <a:r>
              <a:rPr lang="en-IN" dirty="0"/>
              <a:t> Powered by IBM Granite models, the assistant dynamically understands user intent and manages conversation flow without rigid keyword rules, enabling seamless topic shifts while maintaining context.</a:t>
            </a:r>
          </a:p>
          <a:p>
            <a:r>
              <a:rPr lang="en-IN" b="1" dirty="0"/>
              <a:t>Dynamic State Correction:</a:t>
            </a:r>
            <a:r>
              <a:rPr lang="en-IN" dirty="0"/>
              <a:t> The system adapts instantly to real-time profile updates. When a student modifies key details (e.g., marks or eligibility data), it recalculates eligibility using verified RAG sources, updates constraints, and redirects the conversation flow accordingly.</a:t>
            </a:r>
          </a:p>
          <a:p>
            <a:r>
              <a:rPr lang="en-IN" b="1" dirty="0"/>
              <a:t>Frictionless Information Layout Synthesis:</a:t>
            </a:r>
            <a:r>
              <a:rPr lang="en-IN" dirty="0"/>
              <a:t> To maximize clarity and user engagement during complex financial or criteria evaluations, the solution automatically cleans and reformats dense, unorganized PDF text blocks into highly structured, scannable Markdown data tables directly in the chat interface.</a:t>
            </a:r>
          </a:p>
          <a:p>
            <a:endParaRPr lang="en-IN" dirty="0"/>
          </a:p>
          <a:p>
            <a:r>
              <a:rPr lang="en-IN" dirty="0"/>
              <a:t>The solution features a dynamic web dashboard that visualizes admission timelines, eligibility paths, and application progress. Built natively on </a:t>
            </a:r>
            <a:r>
              <a:rPr lang="en-IN" b="1" dirty="0"/>
              <a:t>IBM </a:t>
            </a:r>
            <a:r>
              <a:rPr lang="en-IN" b="1" dirty="0" err="1"/>
              <a:t>watsonx</a:t>
            </a:r>
            <a:r>
              <a:rPr lang="en-IN" b="1" dirty="0"/>
              <a:t> Orchestrate</a:t>
            </a:r>
            <a:r>
              <a:rPr lang="en-IN" dirty="0"/>
              <a:t> with </a:t>
            </a:r>
            <a:r>
              <a:rPr lang="en-IN" b="1" dirty="0"/>
              <a:t>watsonx.ai</a:t>
            </a:r>
            <a:r>
              <a:rPr lang="en-IN" dirty="0"/>
              <a:t>, it enables secure </a:t>
            </a:r>
            <a:r>
              <a:rPr lang="en-IN" b="1" dirty="0"/>
              <a:t>RAG</a:t>
            </a:r>
            <a:r>
              <a:rPr lang="en-IN" dirty="0"/>
              <a:t> indexing, workflow automation, and session tracking. Powered by </a:t>
            </a:r>
            <a:r>
              <a:rPr lang="en-IN" b="1" dirty="0"/>
              <a:t>IBM Granite models</a:t>
            </a:r>
            <a:r>
              <a:rPr lang="en-IN" dirty="0"/>
              <a:t>, the assistant supports multi-turn reasoning, intent understanding, and real-time profile updates, transforming complex institutional regulations into personalized eligibility guidance and easy-to-scan information.</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Orchestrate</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mj-lt"/>
                <a:ea typeface="Times New Roman"/>
                <a:cs typeface="Times New Roman"/>
                <a:sym typeface="Times New Roman"/>
              </a:rPr>
              <a:t>C</a:t>
            </a:r>
            <a:r>
              <a:rPr lang="en-US" sz="2400" b="1" dirty="0">
                <a:sym typeface="Times New Roman"/>
              </a:rPr>
              <a:t>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10904378" cy="4370427"/>
          </a:xfrm>
          <a:prstGeom prst="rect">
            <a:avLst/>
          </a:prstGeom>
          <a:noFill/>
        </p:spPr>
        <p:txBody>
          <a:bodyPr wrap="square" rtlCol="0">
            <a:spAutoFit/>
          </a:bodyPr>
          <a:lstStyle/>
          <a:p>
            <a:endParaRPr lang="en-IN" dirty="0"/>
          </a:p>
          <a:p>
            <a:r>
              <a:rPr lang="en-IN" sz="1600" b="1" dirty="0"/>
              <a:t>Knowledge Base:</a:t>
            </a:r>
            <a:r>
              <a:rPr lang="en-IN" sz="1600" dirty="0"/>
              <a:t> </a:t>
            </a:r>
          </a:p>
          <a:p>
            <a:endParaRPr lang="en-IN" sz="1600" dirty="0"/>
          </a:p>
          <a:p>
            <a:r>
              <a:rPr lang="en-IN" b="1" dirty="0"/>
              <a:t>Five primary institutional repositories</a:t>
            </a:r>
            <a:r>
              <a:rPr lang="en-IN" dirty="0"/>
              <a:t> (01_Course_Catalog.pdf, 02_Eligibility_Criteria.pdf, 03_Fee_Structure.pdf, 04_Scholarships.pdf, and 05_Admission_Dates.pdf)</a:t>
            </a:r>
          </a:p>
          <a:p>
            <a:endParaRPr lang="en-IN" dirty="0"/>
          </a:p>
          <a:p>
            <a:r>
              <a:rPr lang="en-IN" sz="1600" b="1" dirty="0"/>
              <a:t>Agent Behaviour:</a:t>
            </a:r>
          </a:p>
          <a:p>
            <a:endParaRPr lang="en-IN" sz="1600" b="1" dirty="0"/>
          </a:p>
          <a:p>
            <a:r>
              <a:rPr lang="en-IN" dirty="0"/>
              <a:t>The behaviour enforces strict separation between conversational flow and the factual knowledge layer, ensuring reliable state management. A zero-tolerance anti-hallucination framework prevents unverified responses, triggering safe fallback messages whenever official data is unavailable. It also hides underlying technical complexity from users to maintain a seamless experience, while automatically transforming complex institutional information into clear tables, structured layouts, and concise visual summaries.</a:t>
            </a:r>
          </a:p>
          <a:p>
            <a:endParaRPr lang="en-IN" b="1" dirty="0"/>
          </a:p>
          <a:p>
            <a:r>
              <a:rPr lang="en-IN" sz="1600" b="1" dirty="0"/>
              <a:t>Operational Guidelines:</a:t>
            </a:r>
          </a:p>
          <a:p>
            <a:endParaRPr lang="en-IN" sz="1600" b="1" dirty="0"/>
          </a:p>
          <a:p>
            <a:pPr marL="285750" indent="-285750">
              <a:buFont typeface="Arial" panose="020B0604020202020204" pitchFamily="34" charset="0"/>
              <a:buChar char="•"/>
            </a:pPr>
            <a:r>
              <a:rPr lang="en-IN" b="1" dirty="0"/>
              <a:t>Admission-Focused Support:</a:t>
            </a:r>
            <a:r>
              <a:rPr lang="en-IN" dirty="0"/>
              <a:t> The assistant only handles Greenfield University admission-related queries and redirects users to the appropriate department for unrelated requests. </a:t>
            </a:r>
          </a:p>
          <a:p>
            <a:pPr marL="285750" indent="-285750">
              <a:buFont typeface="Arial" panose="020B0604020202020204" pitchFamily="34" charset="0"/>
              <a:buChar char="•"/>
            </a:pPr>
            <a:r>
              <a:rPr lang="en-IN" b="1" dirty="0"/>
              <a:t>Fact-Based Guidance:</a:t>
            </a:r>
            <a:r>
              <a:rPr lang="en-IN" dirty="0"/>
              <a:t> The assistant does not provide personal opinions or recommendations. Instead, it presents verified program details such as eligibility, fees, and duration, allowing users to make informed decisions.</a:t>
            </a:r>
            <a:endParaRPr lang="en-IN" b="1"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CC65824C-C4DF-41E0-40AA-C282166EB9A7}"/>
              </a:ext>
            </a:extLst>
          </p:cNvPr>
          <p:cNvPicPr>
            <a:picLocks noChangeAspect="1"/>
          </p:cNvPicPr>
          <p:nvPr/>
        </p:nvPicPr>
        <p:blipFill>
          <a:blip r:embed="rId3"/>
          <a:stretch>
            <a:fillRect/>
          </a:stretch>
        </p:blipFill>
        <p:spPr>
          <a:xfrm>
            <a:off x="1558671" y="1013460"/>
            <a:ext cx="8362570" cy="50479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49894-C69E-6E2E-E5BE-8CC01F625304}"/>
              </a:ext>
            </a:extLst>
          </p:cNvPr>
          <p:cNvSpPr>
            <a:spLocks noGrp="1"/>
          </p:cNvSpPr>
          <p:nvPr>
            <p:ph type="title"/>
          </p:nvPr>
        </p:nvSpPr>
        <p:spPr>
          <a:xfrm>
            <a:off x="838200" y="235917"/>
            <a:ext cx="10515600" cy="748058"/>
          </a:xfrm>
        </p:spPr>
        <p:txBody>
          <a:bodyPr/>
          <a:lstStyle/>
          <a:p>
            <a:r>
              <a:rPr lang="en-IN" dirty="0"/>
              <a:t>Screenshots of </a:t>
            </a:r>
            <a:r>
              <a:rPr lang="en-IN" dirty="0" err="1"/>
              <a:t>AdmissionBuddy</a:t>
            </a:r>
            <a:endParaRPr lang="en-IN" dirty="0"/>
          </a:p>
        </p:txBody>
      </p:sp>
      <p:pic>
        <p:nvPicPr>
          <p:cNvPr id="4" name="Picture 3">
            <a:extLst>
              <a:ext uri="{FF2B5EF4-FFF2-40B4-BE49-F238E27FC236}">
                <a16:creationId xmlns:a16="http://schemas.microsoft.com/office/drawing/2014/main" id="{469ACD39-8EDB-98CC-FA56-FA0A31EE009B}"/>
              </a:ext>
            </a:extLst>
          </p:cNvPr>
          <p:cNvPicPr>
            <a:picLocks noChangeAspect="1"/>
          </p:cNvPicPr>
          <p:nvPr/>
        </p:nvPicPr>
        <p:blipFill>
          <a:blip r:embed="rId2"/>
          <a:srcRect t="5860" b="7015"/>
          <a:stretch>
            <a:fillRect/>
          </a:stretch>
        </p:blipFill>
        <p:spPr>
          <a:xfrm>
            <a:off x="525660" y="1661159"/>
            <a:ext cx="4562543" cy="3058161"/>
          </a:xfrm>
          <a:prstGeom prst="rect">
            <a:avLst/>
          </a:prstGeom>
        </p:spPr>
      </p:pic>
      <p:pic>
        <p:nvPicPr>
          <p:cNvPr id="6" name="Picture 5">
            <a:extLst>
              <a:ext uri="{FF2B5EF4-FFF2-40B4-BE49-F238E27FC236}">
                <a16:creationId xmlns:a16="http://schemas.microsoft.com/office/drawing/2014/main" id="{6C94CDEB-89D9-8B36-C4FC-8AFFA9C07D3E}"/>
              </a:ext>
            </a:extLst>
          </p:cNvPr>
          <p:cNvPicPr>
            <a:picLocks noChangeAspect="1"/>
          </p:cNvPicPr>
          <p:nvPr/>
        </p:nvPicPr>
        <p:blipFill>
          <a:blip r:embed="rId3"/>
          <a:stretch>
            <a:fillRect/>
          </a:stretch>
        </p:blipFill>
        <p:spPr>
          <a:xfrm>
            <a:off x="6174618" y="1761403"/>
            <a:ext cx="5491722" cy="1946997"/>
          </a:xfrm>
          <a:prstGeom prst="rect">
            <a:avLst/>
          </a:prstGeom>
        </p:spPr>
      </p:pic>
      <p:sp>
        <p:nvSpPr>
          <p:cNvPr id="13" name="TextBox 12">
            <a:extLst>
              <a:ext uri="{FF2B5EF4-FFF2-40B4-BE49-F238E27FC236}">
                <a16:creationId xmlns:a16="http://schemas.microsoft.com/office/drawing/2014/main" id="{0D8D0542-074E-526F-467C-BD88C0E17619}"/>
              </a:ext>
            </a:extLst>
          </p:cNvPr>
          <p:cNvSpPr txBox="1"/>
          <p:nvPr/>
        </p:nvSpPr>
        <p:spPr>
          <a:xfrm>
            <a:off x="838200" y="5301204"/>
            <a:ext cx="3710651" cy="707886"/>
          </a:xfrm>
          <a:prstGeom prst="rect">
            <a:avLst/>
          </a:prstGeom>
          <a:noFill/>
        </p:spPr>
        <p:txBody>
          <a:bodyPr wrap="square" rtlCol="0">
            <a:spAutoFit/>
          </a:bodyPr>
          <a:lstStyle/>
          <a:p>
            <a:r>
              <a:rPr lang="en-IN" sz="2000" dirty="0"/>
              <a:t>This is the knowledge Base for </a:t>
            </a:r>
            <a:r>
              <a:rPr lang="en-IN" sz="2000" dirty="0" err="1"/>
              <a:t>AdmissionBuddy</a:t>
            </a:r>
            <a:endParaRPr lang="en-IN" sz="2000" dirty="0"/>
          </a:p>
        </p:txBody>
      </p:sp>
      <p:sp>
        <p:nvSpPr>
          <p:cNvPr id="14" name="TextBox 13">
            <a:extLst>
              <a:ext uri="{FF2B5EF4-FFF2-40B4-BE49-F238E27FC236}">
                <a16:creationId xmlns:a16="http://schemas.microsoft.com/office/drawing/2014/main" id="{3A0532FA-C993-87CF-7A5C-3C4E8D58A866}"/>
              </a:ext>
            </a:extLst>
          </p:cNvPr>
          <p:cNvSpPr txBox="1"/>
          <p:nvPr/>
        </p:nvSpPr>
        <p:spPr>
          <a:xfrm>
            <a:off x="6974716" y="4573929"/>
            <a:ext cx="3710651" cy="707886"/>
          </a:xfrm>
          <a:prstGeom prst="rect">
            <a:avLst/>
          </a:prstGeom>
          <a:noFill/>
        </p:spPr>
        <p:txBody>
          <a:bodyPr wrap="square" rtlCol="0">
            <a:spAutoFit/>
          </a:bodyPr>
          <a:lstStyle/>
          <a:p>
            <a:r>
              <a:rPr lang="en-IN" sz="2000" dirty="0" err="1"/>
              <a:t>AdmissionBuddy</a:t>
            </a:r>
            <a:r>
              <a:rPr lang="en-IN" sz="2000" dirty="0"/>
              <a:t> when asked a </a:t>
            </a:r>
            <a:r>
              <a:rPr lang="en-IN" sz="2000" u="sng" dirty="0"/>
              <a:t>Question of Scope</a:t>
            </a:r>
          </a:p>
        </p:txBody>
      </p:sp>
    </p:spTree>
    <p:extLst>
      <p:ext uri="{BB962C8B-B14F-4D97-AF65-F5344CB8AC3E}">
        <p14:creationId xmlns:p14="http://schemas.microsoft.com/office/powerpoint/2010/main" val="426917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66C2B-EDB9-B931-4F32-B9F4DBA63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12996-FAD1-E276-8FD4-5D3E085A1E42}"/>
              </a:ext>
            </a:extLst>
          </p:cNvPr>
          <p:cNvSpPr>
            <a:spLocks noGrp="1"/>
          </p:cNvSpPr>
          <p:nvPr>
            <p:ph type="title"/>
          </p:nvPr>
        </p:nvSpPr>
        <p:spPr>
          <a:xfrm>
            <a:off x="838200" y="235917"/>
            <a:ext cx="10515600" cy="748058"/>
          </a:xfrm>
        </p:spPr>
        <p:txBody>
          <a:bodyPr/>
          <a:lstStyle/>
          <a:p>
            <a:r>
              <a:rPr lang="en-IN" dirty="0"/>
              <a:t>Screenshots of </a:t>
            </a:r>
            <a:r>
              <a:rPr lang="en-IN" dirty="0" err="1"/>
              <a:t>AdmissionBuddy</a:t>
            </a:r>
            <a:r>
              <a:rPr lang="en-IN" dirty="0"/>
              <a:t> (Cont..)</a:t>
            </a:r>
          </a:p>
        </p:txBody>
      </p:sp>
      <p:pic>
        <p:nvPicPr>
          <p:cNvPr id="8" name="Picture 7">
            <a:extLst>
              <a:ext uri="{FF2B5EF4-FFF2-40B4-BE49-F238E27FC236}">
                <a16:creationId xmlns:a16="http://schemas.microsoft.com/office/drawing/2014/main" id="{7AB215EB-5454-C417-A439-527A22CE1507}"/>
              </a:ext>
            </a:extLst>
          </p:cNvPr>
          <p:cNvPicPr>
            <a:picLocks noChangeAspect="1"/>
          </p:cNvPicPr>
          <p:nvPr/>
        </p:nvPicPr>
        <p:blipFill>
          <a:blip r:embed="rId2"/>
          <a:stretch>
            <a:fillRect/>
          </a:stretch>
        </p:blipFill>
        <p:spPr>
          <a:xfrm>
            <a:off x="475887" y="933101"/>
            <a:ext cx="5147673" cy="3563251"/>
          </a:xfrm>
          <a:prstGeom prst="rect">
            <a:avLst/>
          </a:prstGeom>
        </p:spPr>
      </p:pic>
      <p:pic>
        <p:nvPicPr>
          <p:cNvPr id="10" name="Picture 9">
            <a:extLst>
              <a:ext uri="{FF2B5EF4-FFF2-40B4-BE49-F238E27FC236}">
                <a16:creationId xmlns:a16="http://schemas.microsoft.com/office/drawing/2014/main" id="{40EFF834-9899-5A77-498C-46B2DF3EAACE}"/>
              </a:ext>
            </a:extLst>
          </p:cNvPr>
          <p:cNvPicPr>
            <a:picLocks noChangeAspect="1"/>
          </p:cNvPicPr>
          <p:nvPr/>
        </p:nvPicPr>
        <p:blipFill>
          <a:blip r:embed="rId3"/>
          <a:stretch>
            <a:fillRect/>
          </a:stretch>
        </p:blipFill>
        <p:spPr>
          <a:xfrm>
            <a:off x="6004705" y="1916694"/>
            <a:ext cx="5791345" cy="4370109"/>
          </a:xfrm>
          <a:prstGeom prst="rect">
            <a:avLst/>
          </a:prstGeom>
        </p:spPr>
      </p:pic>
      <p:sp>
        <p:nvSpPr>
          <p:cNvPr id="3" name="TextBox 2">
            <a:extLst>
              <a:ext uri="{FF2B5EF4-FFF2-40B4-BE49-F238E27FC236}">
                <a16:creationId xmlns:a16="http://schemas.microsoft.com/office/drawing/2014/main" id="{0C2FA270-388C-8A7D-7231-2E9734899121}"/>
              </a:ext>
            </a:extLst>
          </p:cNvPr>
          <p:cNvSpPr txBox="1"/>
          <p:nvPr/>
        </p:nvSpPr>
        <p:spPr>
          <a:xfrm>
            <a:off x="1102360" y="4839593"/>
            <a:ext cx="3710651" cy="707886"/>
          </a:xfrm>
          <a:prstGeom prst="rect">
            <a:avLst/>
          </a:prstGeom>
          <a:noFill/>
        </p:spPr>
        <p:txBody>
          <a:bodyPr wrap="square" rtlCol="0">
            <a:spAutoFit/>
          </a:bodyPr>
          <a:lstStyle/>
          <a:p>
            <a:r>
              <a:rPr lang="en-IN" sz="2000" dirty="0" err="1"/>
              <a:t>AdmissionBuddy</a:t>
            </a:r>
            <a:r>
              <a:rPr lang="en-IN" sz="2000" dirty="0"/>
              <a:t> when there is a typo in question.</a:t>
            </a:r>
          </a:p>
        </p:txBody>
      </p:sp>
      <p:sp>
        <p:nvSpPr>
          <p:cNvPr id="5" name="Oval 4">
            <a:extLst>
              <a:ext uri="{FF2B5EF4-FFF2-40B4-BE49-F238E27FC236}">
                <a16:creationId xmlns:a16="http://schemas.microsoft.com/office/drawing/2014/main" id="{64D5A946-7954-B340-F252-E9BF263DB555}"/>
              </a:ext>
            </a:extLst>
          </p:cNvPr>
          <p:cNvSpPr/>
          <p:nvPr/>
        </p:nvSpPr>
        <p:spPr>
          <a:xfrm>
            <a:off x="4269740" y="1115060"/>
            <a:ext cx="388620" cy="22352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19100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IN" sz="1600" b="1" dirty="0"/>
              <a:t>Role of Agentic AI</a:t>
            </a:r>
          </a:p>
          <a:p>
            <a:endParaRPr lang="en-IN" sz="1600" b="1" dirty="0"/>
          </a:p>
          <a:p>
            <a:r>
              <a:rPr lang="en-IN" sz="1600" b="1" dirty="0"/>
              <a:t>Contextual Evaluation:</a:t>
            </a:r>
            <a:r>
              <a:rPr lang="en-IN" sz="1600" dirty="0"/>
              <a:t> Unlike standard rigid systems, the agent reads user metrics contextually. It successfully cross-references a board score ($55\%$) against the rules document to reject a </a:t>
            </a:r>
            <a:r>
              <a:rPr lang="en-IN" sz="1600" dirty="0" err="1"/>
              <a:t>B.Tech</a:t>
            </a:r>
            <a:r>
              <a:rPr lang="en-IN" sz="1600" dirty="0"/>
              <a:t> path while simultaneously offering accepted alternatives (BCA/</a:t>
            </a:r>
            <a:r>
              <a:rPr lang="en-IN" sz="1600" dirty="0" err="1"/>
              <a:t>B.Sc</a:t>
            </a:r>
            <a:r>
              <a:rPr lang="en-IN" sz="1600" dirty="0"/>
              <a:t>).</a:t>
            </a:r>
          </a:p>
          <a:p>
            <a:r>
              <a:rPr lang="en-IN" sz="1600" b="1" dirty="0"/>
              <a:t>Dynamic Variable Correction:</a:t>
            </a:r>
            <a:r>
              <a:rPr lang="en-IN" sz="1600" dirty="0"/>
              <a:t> Demonstrates advanced context state updates. When the user corrects their score from 55% to 85%, the agent clears previous roadblocks, adjusts its routing path, and initiates the engineering registration track instantly.</a:t>
            </a:r>
          </a:p>
          <a:p>
            <a:r>
              <a:rPr lang="en-IN" sz="1600" b="1" dirty="0"/>
              <a:t>Autonomous Intent Management:</a:t>
            </a:r>
            <a:r>
              <a:rPr lang="en-IN" sz="1600" dirty="0"/>
              <a:t> The system handles logical jumps seamlessly—moving from an informational query (reading fees) to an operational execution state (gathering data for registration) purely based on natural language intent.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247317"/>
          </a:xfrm>
          <a:prstGeom prst="rect">
            <a:avLst/>
          </a:prstGeom>
          <a:noFill/>
        </p:spPr>
        <p:txBody>
          <a:bodyPr wrap="square" rtlCol="0">
            <a:spAutoFit/>
          </a:bodyPr>
          <a:lstStyle/>
          <a:p>
            <a:r>
              <a:rPr lang="en-IN" sz="1800" b="1" dirty="0"/>
              <a:t>1. AI Orchestration Framework</a:t>
            </a:r>
          </a:p>
          <a:p>
            <a:r>
              <a:rPr lang="en-IN" sz="1800" b="1" dirty="0"/>
              <a:t>IBM </a:t>
            </a:r>
            <a:r>
              <a:rPr lang="en-IN" sz="1800" b="1" dirty="0" err="1"/>
              <a:t>watsonx</a:t>
            </a:r>
            <a:r>
              <a:rPr lang="en-IN" sz="1800" b="1" dirty="0"/>
              <a:t> Orchestrate:</a:t>
            </a:r>
            <a:r>
              <a:rPr lang="en-IN" sz="1800" dirty="0"/>
              <a:t> The core enterprise workspace used to build, host, and deploy the autonomous digital worker. It manages active conversation sessions, tracks multi-turn state histories, and replaces traditional static dialog trees.</a:t>
            </a:r>
          </a:p>
          <a:p>
            <a:endParaRPr lang="en-IN" sz="1800" b="1" dirty="0"/>
          </a:p>
          <a:p>
            <a:r>
              <a:rPr lang="en-IN" sz="1800" b="1" dirty="0"/>
              <a:t>2. Cognitive Inference &amp; LLM Engine</a:t>
            </a:r>
          </a:p>
          <a:p>
            <a:r>
              <a:rPr lang="en-IN" sz="1800" b="1" dirty="0"/>
              <a:t>IBM Granite Model Family (</a:t>
            </a:r>
            <a:r>
              <a:rPr lang="en-IN" b="1" dirty="0"/>
              <a:t>granite-4.0-8b-instruct</a:t>
            </a:r>
            <a:r>
              <a:rPr lang="en-IN" sz="1800" b="1" dirty="0"/>
              <a:t>):</a:t>
            </a:r>
            <a:r>
              <a:rPr lang="en-IN" sz="1800" dirty="0"/>
              <a:t> The primary foundation language model powering the agent. It is natively optimized for high-speed business logic, advanced intent classification, real-time contextual reasoning, and strict </a:t>
            </a:r>
            <a:r>
              <a:rPr lang="en-IN" sz="1800" dirty="0" err="1"/>
              <a:t>behavioral</a:t>
            </a:r>
            <a:r>
              <a:rPr lang="en-IN" sz="1800" dirty="0"/>
              <a:t> compliance.</a:t>
            </a:r>
          </a:p>
          <a:p>
            <a:endParaRPr lang="en-IN" sz="1800" b="1" dirty="0"/>
          </a:p>
          <a:p>
            <a:r>
              <a:rPr lang="en-IN" sz="1800" b="1" dirty="0"/>
              <a:t>3. Data Grounding Subsystem (RAG)</a:t>
            </a:r>
          </a:p>
          <a:p>
            <a:r>
              <a:rPr lang="en-IN" sz="1800" b="1" dirty="0"/>
              <a:t>Conversational Search Knowledge Sources:</a:t>
            </a:r>
            <a:r>
              <a:rPr lang="en-IN" sz="1800" dirty="0"/>
              <a:t> The underlying data retrieval pipeline that ingested, chunked, and indexed the five core institutional files (</a:t>
            </a:r>
            <a:r>
              <a:rPr lang="en-IN" dirty="0"/>
              <a:t>01_Course_Catalog.pdf</a:t>
            </a:r>
            <a:r>
              <a:rPr lang="en-IN" sz="1800" dirty="0"/>
              <a:t>, </a:t>
            </a:r>
            <a:r>
              <a:rPr lang="en-IN" dirty="0"/>
              <a:t>02_Eligibility_Criteria.pdf</a:t>
            </a:r>
            <a:r>
              <a:rPr lang="en-IN" sz="1800" dirty="0"/>
              <a:t>, </a:t>
            </a:r>
            <a:r>
              <a:rPr lang="en-IN" dirty="0"/>
              <a:t>03_Fee_Structure.pdf</a:t>
            </a:r>
            <a:r>
              <a:rPr lang="en-IN" sz="1800" dirty="0"/>
              <a:t>, </a:t>
            </a:r>
            <a:r>
              <a:rPr lang="en-IN" dirty="0"/>
              <a:t>04_Scholarships.pdf</a:t>
            </a:r>
            <a:r>
              <a:rPr lang="en-IN" sz="1800" dirty="0"/>
              <a:t>, and </a:t>
            </a:r>
            <a:r>
              <a:rPr lang="en-IN" dirty="0"/>
              <a:t>05_Admission_Dates.pdf</a:t>
            </a:r>
            <a:r>
              <a:rPr lang="en-IN" sz="1800" dirty="0"/>
              <a:t>) into vector space to enforce absolute zero-hallucination factual accuracy.</a:t>
            </a:r>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217168"/>
            <a:ext cx="11301984" cy="3539430"/>
          </a:xfrm>
          <a:prstGeom prst="rect">
            <a:avLst/>
          </a:prstGeom>
          <a:noFill/>
        </p:spPr>
        <p:txBody>
          <a:bodyPr wrap="square" rtlCol="0">
            <a:spAutoFit/>
          </a:bodyPr>
          <a:lstStyle/>
          <a:p>
            <a:r>
              <a:rPr lang="en-IN" sz="1600" dirty="0"/>
              <a:t>The proposed </a:t>
            </a:r>
            <a:r>
              <a:rPr lang="en-IN" sz="1600" b="1" dirty="0" err="1"/>
              <a:t>AdmissionBuddy</a:t>
            </a:r>
            <a:r>
              <a:rPr lang="en-IN" sz="1600" dirty="0"/>
              <a:t> platform stands out by combining </a:t>
            </a:r>
            <a:r>
              <a:rPr lang="en-IN" sz="1600" b="1" dirty="0"/>
              <a:t>Autonomous Orchestration, Strict Knowledge Grounding, and Multi-Turn Parameter State Tracking</a:t>
            </a:r>
            <a:r>
              <a:rPr lang="en-IN" sz="1600" dirty="0"/>
              <a:t> into a single intelligent enterprise system.</a:t>
            </a:r>
          </a:p>
          <a:p>
            <a:endParaRPr lang="en-IN" sz="1600" dirty="0"/>
          </a:p>
          <a:p>
            <a:r>
              <a:rPr lang="en-IN" sz="1600" b="1" dirty="0"/>
              <a:t>Autonomous Goal-Driven Logic</a:t>
            </a:r>
            <a:r>
              <a:rPr lang="en-IN" sz="1600" dirty="0"/>
              <a:t> – Rather than relying on rigid, hardcoded decision trees, the system uses an autonomous orchestration loop to evaluate intent and guide applicants flexibly through enrolment workflows.</a:t>
            </a:r>
          </a:p>
          <a:p>
            <a:r>
              <a:rPr lang="en-IN" sz="1600" b="1" dirty="0"/>
              <a:t>Deterministic RAG Grounding</a:t>
            </a:r>
            <a:r>
              <a:rPr lang="en-IN" sz="1600" dirty="0"/>
              <a:t> – Integrates strict real-time vector matching against five official institutional repositories, enforcing 100% factual verification and completely eliminating generic AI data hallucinations.</a:t>
            </a:r>
          </a:p>
          <a:p>
            <a:r>
              <a:rPr lang="en-IN" sz="1600" b="1" dirty="0"/>
              <a:t>Dynamic Mid-Course State Correction</a:t>
            </a:r>
            <a:r>
              <a:rPr lang="en-IN" sz="1600" dirty="0"/>
              <a:t> – Features resilient behavioural logic that can instantly flash active constraints if a student modifies variables mid-session (such as updating marks), automatically recalculating downstream tracking branches on the fly.</a:t>
            </a:r>
          </a:p>
          <a:p>
            <a:r>
              <a:rPr lang="en-IN" sz="1600" b="1" dirty="0"/>
              <a:t>Frictionless Layout Synthesis</a:t>
            </a:r>
            <a:r>
              <a:rPr lang="en-IN" sz="1600" dirty="0"/>
              <a:t> – Automatically parses, cleans, and converts dense, unorganized document tables into scannable, user-friendly Markdown formats for complex fee structures and cutoff grids.</a:t>
            </a:r>
          </a:p>
          <a:p>
            <a:r>
              <a:rPr lang="en-IN" sz="1600" b="1" dirty="0"/>
              <a:t>Enterprise-Ready Infrastructure</a:t>
            </a:r>
            <a:r>
              <a:rPr lang="en-IN" sz="1600" dirty="0"/>
              <a:t> – Built fully on </a:t>
            </a:r>
            <a:r>
              <a:rPr lang="en-IN" sz="1600" b="1" dirty="0"/>
              <a:t>IBM </a:t>
            </a:r>
            <a:r>
              <a:rPr lang="en-IN" sz="1600" b="1" dirty="0" err="1"/>
              <a:t>watsonx</a:t>
            </a:r>
            <a:r>
              <a:rPr lang="en-IN" sz="1600" b="1" dirty="0"/>
              <a:t> Orchestrate</a:t>
            </a:r>
            <a:r>
              <a:rPr lang="en-IN" sz="1600" dirty="0"/>
              <a:t> and </a:t>
            </a:r>
            <a:r>
              <a:rPr lang="en-IN" sz="1600" b="1" dirty="0"/>
              <a:t>IBM Granite models</a:t>
            </a:r>
            <a:r>
              <a:rPr lang="en-IN" sz="1600" dirty="0"/>
              <a:t>, ensuring high-speed processing, low-latency execution, and robust commercial-grade AI governance.</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344964" y="1490506"/>
            <a:ext cx="9214580" cy="62428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hlinkClick r:id="rId3"/>
              </a:rPr>
              <a:t>https://github.com/isha-404/IBM_watsonx-Orchestrate</a:t>
            </a:r>
            <a:endParaRPr lang="en-US" sz="185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IN" sz="2000" b="1" dirty="0"/>
          </a:p>
          <a:p>
            <a:r>
              <a:rPr lang="en-IN" sz="2000" b="1" dirty="0"/>
              <a:t>External System Integration (Tools </a:t>
            </a:r>
            <a:r>
              <a:rPr lang="en-IN" sz="2000" b="1" dirty="0" err="1"/>
              <a:t>catalog</a:t>
            </a:r>
            <a:r>
              <a:rPr lang="en-IN" sz="2000" b="1" dirty="0"/>
              <a:t>):</a:t>
            </a:r>
            <a:r>
              <a:rPr lang="en-IN" sz="2000" dirty="0"/>
              <a:t> Connect the parameter-capture loop to enterprise database tools (like Google Sheets API, Salesforce, or an institutional CRM database) to automatically commit lead records in real-time.</a:t>
            </a:r>
          </a:p>
          <a:p>
            <a:endParaRPr lang="en-IN" sz="2000" b="1" dirty="0"/>
          </a:p>
          <a:p>
            <a:endParaRPr lang="en-IN" sz="2000" b="1" dirty="0"/>
          </a:p>
          <a:p>
            <a:r>
              <a:rPr lang="en-IN" sz="2000" b="1" dirty="0"/>
              <a:t>Multi-Channel Integration:</a:t>
            </a:r>
            <a:r>
              <a:rPr lang="en-IN" sz="2000" dirty="0"/>
              <a:t> Deploy the </a:t>
            </a:r>
            <a:r>
              <a:rPr lang="en-IN" sz="2000" dirty="0" err="1"/>
              <a:t>watsonx</a:t>
            </a:r>
            <a:r>
              <a:rPr lang="en-IN" sz="2000" dirty="0"/>
              <a:t> Orchestrate runtime output to scalable communication channels (like a WhatsApp Business endpoint via Twilio API) for widespread student accessibility.</a:t>
            </a: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1256</TotalTime>
  <Words>1568</Words>
  <Application>Microsoft Office PowerPoint</Application>
  <PresentationFormat>Widescreen</PresentationFormat>
  <Paragraphs>97</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Screenshots of AdmissionBuddy</vt:lpstr>
      <vt:lpstr>Screenshots of AdmissionBuddy (Cont..)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Yogeshwar Waghmare</cp:lastModifiedBy>
  <cp:revision>31</cp:revision>
  <dcterms:created xsi:type="dcterms:W3CDTF">2025-07-08T05:06:56Z</dcterms:created>
  <dcterms:modified xsi:type="dcterms:W3CDTF">2026-06-03T14:43:44Z</dcterms:modified>
</cp:coreProperties>
</file>